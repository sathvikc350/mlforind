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1F54-9612-4A6A-8BB0-3139E0A635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EBD0B5-64BA-4C87-BF67-98475696A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34E082-444C-4CD9-B0EE-F1B8BEBAA51E}"/>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15239328-9CAB-4C63-8D90-B507B35AD1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BBAC1A-BB4C-4512-BA2E-8FD3D6206B73}"/>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391454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ECA4A-A6EF-4E42-A44D-50492D7C8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00E66D-D93B-4D5A-91A9-C51359182F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A4AA18-D8A0-4883-9554-6E6AE85A40B4}"/>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0001501B-069E-4ED4-8CA8-F8AA51D559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4430F3-A8F8-4C03-8DAC-2871E0F886C8}"/>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192801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9CA73-A899-48AC-9A09-38279CD2C5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EAD70C-5660-4D84-8EF1-B29FBDF0AC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4E75F-5B44-4853-976E-28A76214F01D}"/>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B1673BFC-F484-4AAC-9752-9AB0C440A5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C2DDDA-D669-45EC-B25F-DA6C9591AC1A}"/>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1755914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26638-8B02-43C5-8018-5127DADF27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212FBA-7799-4FF2-A791-48E9027117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61B71F-A5F0-40C5-B19D-B6D7177688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65778D-5875-45B1-9F98-C67EEC62DE63}"/>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6" name="Footer Placeholder 5">
            <a:extLst>
              <a:ext uri="{FF2B5EF4-FFF2-40B4-BE49-F238E27FC236}">
                <a16:creationId xmlns:a16="http://schemas.microsoft.com/office/drawing/2014/main" id="{C45FAE9A-222D-420F-914E-E9BD0F055C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D7DED1-3813-4AD2-BD0F-5FF38EE263E9}"/>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2595661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BF516-680F-48F3-A396-6565B3BC22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DE1B6B-E123-497E-B32E-96C9BF9ECA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B1079C-83A8-402D-BCCF-DAA18064FF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45DCB5-7DB5-4E13-950E-02BA5E5B2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DDCE18-ED18-4B04-927C-0C82AA9600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71422C-DC96-466C-85D0-887E47FC52FF}"/>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8" name="Footer Placeholder 7">
            <a:extLst>
              <a:ext uri="{FF2B5EF4-FFF2-40B4-BE49-F238E27FC236}">
                <a16:creationId xmlns:a16="http://schemas.microsoft.com/office/drawing/2014/main" id="{AA0DD71A-0B3B-4EF8-B79B-F5B04A599B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71A00A-3B2E-403E-A14F-C616D293AE55}"/>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88020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5D3D-3EFA-4955-BB5A-86D92E7D68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B17DB2-3E61-49B2-ACD6-79D3AADB4077}"/>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4" name="Footer Placeholder 3">
            <a:extLst>
              <a:ext uri="{FF2B5EF4-FFF2-40B4-BE49-F238E27FC236}">
                <a16:creationId xmlns:a16="http://schemas.microsoft.com/office/drawing/2014/main" id="{7633E1BC-F253-4096-A7AE-A9AD3C3C75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9F4E687-38BE-4577-9312-87DDF063112F}"/>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2310555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4BBF3A-BD35-4E05-A2D0-C9FBC17187DB}"/>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3" name="Footer Placeholder 2">
            <a:extLst>
              <a:ext uri="{FF2B5EF4-FFF2-40B4-BE49-F238E27FC236}">
                <a16:creationId xmlns:a16="http://schemas.microsoft.com/office/drawing/2014/main" id="{7DCBFCDC-21D9-4B9E-9499-8F8C364E55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74BDAA-0753-4F73-9A0D-A372EEC548D9}"/>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1584220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008B2-364E-44D7-93E2-F19E497643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007048-EA92-4BFD-AEBD-C56126C0C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D5F0E4-FC93-474B-99F5-790AC6357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90BC2-8FC9-4188-9ACD-941403CDCACE}"/>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6" name="Footer Placeholder 5">
            <a:extLst>
              <a:ext uri="{FF2B5EF4-FFF2-40B4-BE49-F238E27FC236}">
                <a16:creationId xmlns:a16="http://schemas.microsoft.com/office/drawing/2014/main" id="{55EAC320-34D6-467C-9928-979D3162F2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659D0-976D-43C6-A382-4D582DCA6857}"/>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913616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9249-D48E-4C00-A25F-980AC6796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CF9386-487C-48F7-BC0E-523706428E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9EDD78-BCB1-43E1-B8A0-CC6DFDD3D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7D7959-3084-41B9-8D00-BE56ECE191DA}"/>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6" name="Footer Placeholder 5">
            <a:extLst>
              <a:ext uri="{FF2B5EF4-FFF2-40B4-BE49-F238E27FC236}">
                <a16:creationId xmlns:a16="http://schemas.microsoft.com/office/drawing/2014/main" id="{961D4500-B7DA-453A-A49E-DDC27181F4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3249E5-9043-4526-A3B3-8EDF554FBD4A}"/>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378575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F0ADA-D432-47D0-A6B1-554C1E4616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1D4499-064D-42B8-BD8E-14DCA0C3FD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D92D0D-D4E4-46B2-B586-41AF381F4B9F}"/>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2D13CCB6-68B1-4970-939F-2DC193C9C4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23BD09-B88C-4EDE-A0C5-36195565D590}"/>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212399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878595-74F7-4E19-A865-293DCA341B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60F318-557D-4D35-A853-BC4886797A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5CAC99-7074-4736-92B9-2BD4EFDCBF69}"/>
              </a:ext>
            </a:extLst>
          </p:cNvPr>
          <p:cNvSpPr>
            <a:spLocks noGrp="1"/>
          </p:cNvSpPr>
          <p:nvPr>
            <p:ph type="dt" sz="half" idx="10"/>
          </p:nvPr>
        </p:nvSpPr>
        <p:spPr/>
        <p:txBody>
          <a:body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73873C32-BACA-4B9F-88CB-F4C1175B3F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2C8F9B-23EB-41DD-A096-F834897EB6C3}"/>
              </a:ext>
            </a:extLst>
          </p:cNvPr>
          <p:cNvSpPr>
            <a:spLocks noGrp="1"/>
          </p:cNvSpPr>
          <p:nvPr>
            <p:ph type="sldNum" sz="quarter" idx="12"/>
          </p:nvPr>
        </p:nvSpPr>
        <p:spPr/>
        <p:txBody>
          <a:bodyPr/>
          <a:lstStyle/>
          <a:p>
            <a:fld id="{5C4970A6-8A5C-4897-BDCC-E8494013219E}" type="slidenum">
              <a:rPr lang="en-IN" smtClean="0"/>
              <a:t>‹#›</a:t>
            </a:fld>
            <a:endParaRPr lang="en-IN"/>
          </a:p>
        </p:txBody>
      </p:sp>
    </p:spTree>
    <p:extLst>
      <p:ext uri="{BB962C8B-B14F-4D97-AF65-F5344CB8AC3E}">
        <p14:creationId xmlns:p14="http://schemas.microsoft.com/office/powerpoint/2010/main" val="2171158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C04D41-B993-45DF-ADE0-8A9688BC5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19DE46-CA89-4D88-AC78-6778569D6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F52BFF-3624-4254-88DA-C9AC82B9A7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FFAE7-735E-4B99-9ACA-7784A17C1ECA}" type="datetimeFigureOut">
              <a:rPr lang="en-IN" smtClean="0"/>
              <a:t>26-04-2022</a:t>
            </a:fld>
            <a:endParaRPr lang="en-IN"/>
          </a:p>
        </p:txBody>
      </p:sp>
      <p:sp>
        <p:nvSpPr>
          <p:cNvPr id="5" name="Footer Placeholder 4">
            <a:extLst>
              <a:ext uri="{FF2B5EF4-FFF2-40B4-BE49-F238E27FC236}">
                <a16:creationId xmlns:a16="http://schemas.microsoft.com/office/drawing/2014/main" id="{381452A4-681E-45A6-BA95-7EA97B41E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752231-EF53-4F1E-80E4-67C1039D33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970A6-8A5C-4897-BDCC-E8494013219E}" type="slidenum">
              <a:rPr lang="en-IN" smtClean="0"/>
              <a:t>‹#›</a:t>
            </a:fld>
            <a:endParaRPr lang="en-IN"/>
          </a:p>
        </p:txBody>
      </p:sp>
    </p:spTree>
    <p:extLst>
      <p:ext uri="{BB962C8B-B14F-4D97-AF65-F5344CB8AC3E}">
        <p14:creationId xmlns:p14="http://schemas.microsoft.com/office/powerpoint/2010/main" val="890435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irukkovalluria@duq.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Parliamentary_system" TargetMode="External"/><Relationship Id="rId2" Type="http://schemas.openxmlformats.org/officeDocument/2006/relationships/hyperlink" Target="https://en.wikipedia.org/wiki/India" TargetMode="External"/><Relationship Id="rId1" Type="http://schemas.openxmlformats.org/officeDocument/2006/relationships/slideLayout" Target="../slideLayouts/slideLayout2.xml"/><Relationship Id="rId5" Type="http://schemas.openxmlformats.org/officeDocument/2006/relationships/hyperlink" Target="https://en.wikipedia.org/wiki/States_and_territories_of_India" TargetMode="External"/><Relationship Id="rId4" Type="http://schemas.openxmlformats.org/officeDocument/2006/relationships/hyperlink" Target="https://en.wikipedia.org/wiki/Constitution_of_Indi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02CD4-1516-4122-9D58-DF1603B89D3D}"/>
              </a:ext>
            </a:extLst>
          </p:cNvPr>
          <p:cNvSpPr>
            <a:spLocks noGrp="1"/>
          </p:cNvSpPr>
          <p:nvPr>
            <p:ph type="ctrTitle"/>
          </p:nvPr>
        </p:nvSpPr>
        <p:spPr>
          <a:xfrm>
            <a:off x="1524000" y="292231"/>
            <a:ext cx="9144000" cy="1442301"/>
          </a:xfrm>
        </p:spPr>
        <p:txBody>
          <a:bodyPr/>
          <a:lstStyle/>
          <a:p>
            <a:r>
              <a:rPr lang="en-IN" dirty="0"/>
              <a:t>Indian Election Prediction</a:t>
            </a:r>
          </a:p>
        </p:txBody>
      </p:sp>
      <p:sp>
        <p:nvSpPr>
          <p:cNvPr id="3" name="Subtitle 2">
            <a:extLst>
              <a:ext uri="{FF2B5EF4-FFF2-40B4-BE49-F238E27FC236}">
                <a16:creationId xmlns:a16="http://schemas.microsoft.com/office/drawing/2014/main" id="{C6563FA4-3617-4243-A223-D78CA9DA419F}"/>
              </a:ext>
            </a:extLst>
          </p:cNvPr>
          <p:cNvSpPr>
            <a:spLocks noGrp="1"/>
          </p:cNvSpPr>
          <p:nvPr>
            <p:ph type="subTitle" idx="1"/>
          </p:nvPr>
        </p:nvSpPr>
        <p:spPr/>
        <p:txBody>
          <a:bodyPr>
            <a:normAutofit lnSpcReduction="10000"/>
          </a:bodyPr>
          <a:lstStyle/>
          <a:p>
            <a:pPr algn="r"/>
            <a:r>
              <a:rPr lang="en-IN" dirty="0"/>
              <a:t>Final Project</a:t>
            </a:r>
          </a:p>
          <a:p>
            <a:pPr algn="r"/>
            <a:r>
              <a:rPr lang="en-IN" dirty="0"/>
              <a:t>Name: </a:t>
            </a:r>
            <a:r>
              <a:rPr lang="en-IN" dirty="0" err="1"/>
              <a:t>Anantha</a:t>
            </a:r>
            <a:r>
              <a:rPr lang="en-IN" dirty="0"/>
              <a:t> Lakshmi Sathvik</a:t>
            </a:r>
          </a:p>
          <a:p>
            <a:pPr algn="r"/>
            <a:r>
              <a:rPr lang="en-IN" dirty="0"/>
              <a:t>Email: </a:t>
            </a:r>
            <a:r>
              <a:rPr lang="en-IN" dirty="0">
                <a:hlinkClick r:id="rId2"/>
              </a:rPr>
              <a:t>Tirukkovalluria@duq.edu</a:t>
            </a:r>
            <a:endParaRPr lang="en-IN" dirty="0"/>
          </a:p>
          <a:p>
            <a:pPr algn="r"/>
            <a:r>
              <a:rPr lang="en-IN" dirty="0"/>
              <a:t>Date: 04-27-2022</a:t>
            </a:r>
          </a:p>
        </p:txBody>
      </p:sp>
    </p:spTree>
    <p:extLst>
      <p:ext uri="{BB962C8B-B14F-4D97-AF65-F5344CB8AC3E}">
        <p14:creationId xmlns:p14="http://schemas.microsoft.com/office/powerpoint/2010/main" val="976756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214E-AA2C-41C9-9D4E-7D498A3208B1}"/>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0966873B-1E16-4787-A5EC-7381FDB9D08B}"/>
              </a:ext>
            </a:extLst>
          </p:cNvPr>
          <p:cNvSpPr>
            <a:spLocks noGrp="1"/>
          </p:cNvSpPr>
          <p:nvPr>
            <p:ph idx="1"/>
          </p:nvPr>
        </p:nvSpPr>
        <p:spPr>
          <a:xfrm>
            <a:off x="838200" y="1825625"/>
            <a:ext cx="10087466" cy="3802177"/>
          </a:xfrm>
        </p:spPr>
        <p:txBody>
          <a:bodyPr>
            <a:normAutofit/>
          </a:bodyPr>
          <a:lstStyle/>
          <a:p>
            <a:pPr marL="0" indent="0" algn="just">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India being the world’s second-largest populated country it’s always been a piece of news to people that who is going to rule India. After getting independence in 1947 </a:t>
            </a:r>
            <a:r>
              <a:rPr lang="en-IN" sz="2000" strike="noStrike" dirty="0">
                <a:effectLst/>
                <a:latin typeface="Calibri" panose="020F0502020204030204" pitchFamily="34" charset="0"/>
                <a:ea typeface="Calibri" panose="020F0502020204030204" pitchFamily="34" charset="0"/>
                <a:cs typeface="Calibri" panose="020F0502020204030204" pitchFamily="34" charset="0"/>
                <a:hlinkClick r:id="rId2" tooltip="India">
                  <a:extLst>
                    <a:ext uri="{A12FA001-AC4F-418D-AE19-62706E023703}">
                      <ahyp:hlinkClr xmlns:ahyp="http://schemas.microsoft.com/office/drawing/2018/hyperlinkcolor" val="tx"/>
                    </a:ext>
                  </a:extLst>
                </a:hlinkClick>
              </a:rPr>
              <a:t>India</a:t>
            </a:r>
            <a:r>
              <a:rPr lang="en-IN" sz="2000" dirty="0">
                <a:effectLst/>
                <a:latin typeface="Calibri" panose="020F0502020204030204" pitchFamily="34" charset="0"/>
                <a:ea typeface="Calibri" panose="020F0502020204030204" pitchFamily="34" charset="0"/>
                <a:cs typeface="Calibri" panose="020F0502020204030204" pitchFamily="34" charset="0"/>
              </a:rPr>
              <a:t> has a </a:t>
            </a:r>
            <a:r>
              <a:rPr lang="en-IN" sz="2000" strike="noStrike" dirty="0">
                <a:effectLst/>
                <a:latin typeface="Calibri" panose="020F0502020204030204" pitchFamily="34" charset="0"/>
                <a:ea typeface="Calibri" panose="020F0502020204030204" pitchFamily="34" charset="0"/>
                <a:cs typeface="Calibri" panose="020F0502020204030204" pitchFamily="34" charset="0"/>
                <a:hlinkClick r:id="rId3" tooltip="Parliamentary system">
                  <a:extLst>
                    <a:ext uri="{A12FA001-AC4F-418D-AE19-62706E023703}">
                      <ahyp:hlinkClr xmlns:ahyp="http://schemas.microsoft.com/office/drawing/2018/hyperlinkcolor" val="tx"/>
                    </a:ext>
                  </a:extLst>
                </a:hlinkClick>
              </a:rPr>
              <a:t>parliamentary system</a:t>
            </a:r>
            <a:r>
              <a:rPr lang="en-IN" sz="2000" dirty="0">
                <a:effectLst/>
                <a:latin typeface="Calibri" panose="020F0502020204030204" pitchFamily="34" charset="0"/>
                <a:ea typeface="Calibri" panose="020F0502020204030204" pitchFamily="34" charset="0"/>
                <a:cs typeface="Calibri" panose="020F0502020204030204" pitchFamily="34" charset="0"/>
              </a:rPr>
              <a:t> as defined by its </a:t>
            </a:r>
            <a:r>
              <a:rPr lang="en-IN" sz="2000" strike="noStrike" dirty="0">
                <a:effectLst/>
                <a:latin typeface="Calibri" panose="020F0502020204030204" pitchFamily="34" charset="0"/>
                <a:ea typeface="Calibri" panose="020F0502020204030204" pitchFamily="34" charset="0"/>
                <a:cs typeface="Calibri" panose="020F0502020204030204" pitchFamily="34" charset="0"/>
                <a:hlinkClick r:id="rId4" tooltip="Constitution of India">
                  <a:extLst>
                    <a:ext uri="{A12FA001-AC4F-418D-AE19-62706E023703}">
                      <ahyp:hlinkClr xmlns:ahyp="http://schemas.microsoft.com/office/drawing/2018/hyperlinkcolor" val="tx"/>
                    </a:ext>
                  </a:extLst>
                </a:hlinkClick>
              </a:rPr>
              <a:t>constitution</a:t>
            </a:r>
            <a:r>
              <a:rPr lang="en-IN" sz="2000" dirty="0">
                <a:effectLst/>
                <a:latin typeface="Calibri" panose="020F0502020204030204" pitchFamily="34" charset="0"/>
                <a:ea typeface="Calibri" panose="020F0502020204030204" pitchFamily="34" charset="0"/>
                <a:cs typeface="Calibri" panose="020F0502020204030204" pitchFamily="34" charset="0"/>
              </a:rPr>
              <a:t>, elections in India are conducted every 5 years with power distributed between the central government and the </a:t>
            </a:r>
            <a:r>
              <a:rPr lang="en-IN" sz="2000" strike="noStrike" dirty="0">
                <a:effectLst/>
                <a:latin typeface="Calibri" panose="020F0502020204030204" pitchFamily="34" charset="0"/>
                <a:ea typeface="Calibri" panose="020F0502020204030204" pitchFamily="34" charset="0"/>
                <a:cs typeface="Calibri" panose="020F0502020204030204" pitchFamily="34" charset="0"/>
                <a:hlinkClick r:id="rId5" tooltip="States and territories of India">
                  <a:extLst>
                    <a:ext uri="{A12FA001-AC4F-418D-AE19-62706E023703}">
                      <ahyp:hlinkClr xmlns:ahyp="http://schemas.microsoft.com/office/drawing/2018/hyperlinkcolor" val="tx"/>
                    </a:ext>
                  </a:extLst>
                </a:hlinkClick>
              </a:rPr>
              <a:t>states</a:t>
            </a:r>
            <a:r>
              <a:rPr lang="en-IN" sz="2000" dirty="0">
                <a:effectLst/>
                <a:latin typeface="Calibri" panose="020F0502020204030204" pitchFamily="34" charset="0"/>
                <a:ea typeface="Calibri" panose="020F0502020204030204" pitchFamily="34" charset="0"/>
                <a:cs typeface="Calibri" panose="020F0502020204030204" pitchFamily="34" charset="0"/>
              </a:rPr>
              <a:t>. There are more than 500 parliament constituencies in India</a:t>
            </a:r>
            <a:r>
              <a:rPr lang="en-IN" sz="2000" dirty="0">
                <a:effectLst/>
                <a:latin typeface="Calibri" panose="020F0502020204030204" pitchFamily="34" charset="0"/>
                <a:ea typeface="Calibri" panose="020F0502020204030204" pitchFamily="34" charset="0"/>
                <a:cs typeface="Times New Roman" panose="02020603050405020304" pitchFamily="18" charset="0"/>
              </a:rPr>
              <a:t> there were two majorly political parties Indian National Congress and </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2000" dirty="0">
                <a:effectLst/>
                <a:latin typeface="Calibri" panose="020F0502020204030204" pitchFamily="34" charset="0"/>
                <a:ea typeface="Calibri" panose="020F0502020204030204" pitchFamily="34" charset="0"/>
                <a:cs typeface="Times New Roman" panose="02020603050405020304" pitchFamily="18" charset="0"/>
              </a:rPr>
              <a:t> Janata Party. The primary goal is to predict which party wins the 2024 election on a national level. The dataset consists of Indian elections data from 1962 to 2019. </a:t>
            </a:r>
            <a:r>
              <a:rPr lang="en-IN" sz="2000" dirty="0">
                <a:effectLst/>
                <a:latin typeface="Calibri" panose="020F0502020204030204" pitchFamily="34" charset="0"/>
                <a:ea typeface="Calibri" panose="020F0502020204030204" pitchFamily="34" charset="0"/>
                <a:cs typeface="Calibri" panose="020F0502020204030204" pitchFamily="34" charset="0"/>
              </a:rPr>
              <a:t>This has many attributes like the constituency, the party, state, year, electors, votes, turnout, margin, margin%.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IN" sz="2000" dirty="0"/>
          </a:p>
        </p:txBody>
      </p:sp>
    </p:spTree>
    <p:extLst>
      <p:ext uri="{BB962C8B-B14F-4D97-AF65-F5344CB8AC3E}">
        <p14:creationId xmlns:p14="http://schemas.microsoft.com/office/powerpoint/2010/main" val="2106862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A2C2B-E429-4CDA-802D-A25E3F491A96}"/>
              </a:ext>
            </a:extLst>
          </p:cNvPr>
          <p:cNvSpPr>
            <a:spLocks noGrp="1"/>
          </p:cNvSpPr>
          <p:nvPr>
            <p:ph type="title"/>
          </p:nvPr>
        </p:nvSpPr>
        <p:spPr/>
        <p:txBody>
          <a:bodyPr/>
          <a:lstStyle/>
          <a:p>
            <a:r>
              <a:rPr lang="en-IN" dirty="0"/>
              <a:t>Back Ground</a:t>
            </a:r>
          </a:p>
        </p:txBody>
      </p:sp>
      <p:sp>
        <p:nvSpPr>
          <p:cNvPr id="3" name="Content Placeholder 2">
            <a:extLst>
              <a:ext uri="{FF2B5EF4-FFF2-40B4-BE49-F238E27FC236}">
                <a16:creationId xmlns:a16="http://schemas.microsoft.com/office/drawing/2014/main" id="{065953AC-4C24-46EA-82F9-542DD04894C1}"/>
              </a:ext>
            </a:extLst>
          </p:cNvPr>
          <p:cNvSpPr>
            <a:spLocks noGrp="1"/>
          </p:cNvSpPr>
          <p:nvPr>
            <p:ph idx="1"/>
          </p:nvPr>
        </p:nvSpPr>
        <p:spPr/>
        <p:txBody>
          <a:bodyPr>
            <a:normAutofit/>
          </a:bodyPr>
          <a:lstStyle/>
          <a:p>
            <a:pPr marL="0" indent="0" algn="just">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Indian National Congress and </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2000" dirty="0">
                <a:effectLst/>
                <a:latin typeface="Calibri" panose="020F0502020204030204" pitchFamily="34" charset="0"/>
                <a:ea typeface="Calibri" panose="020F0502020204030204" pitchFamily="34" charset="0"/>
                <a:cs typeface="Times New Roman" panose="02020603050405020304" pitchFamily="18" charset="0"/>
              </a:rPr>
              <a:t> Janata Party being the largest democratic parties it is always one of the evaluative ways that every citizen can influence government decision making through voting. But not everyone knows the importance of voting using this project we can study individual histories of both the parties, learn about the insights of all the parties involving in the elections and learn what is the ratio of wining and based on their history. What could be the prediction for 2024 elections</a:t>
            </a:r>
            <a:endParaRPr lang="en-IN" sz="2000" dirty="0"/>
          </a:p>
        </p:txBody>
      </p:sp>
    </p:spTree>
    <p:extLst>
      <p:ext uri="{BB962C8B-B14F-4D97-AF65-F5344CB8AC3E}">
        <p14:creationId xmlns:p14="http://schemas.microsoft.com/office/powerpoint/2010/main" val="3342968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E69C4-4ED6-46DC-824D-FEDB35F4671D}"/>
              </a:ext>
            </a:extLst>
          </p:cNvPr>
          <p:cNvSpPr>
            <a:spLocks noGrp="1"/>
          </p:cNvSpPr>
          <p:nvPr>
            <p:ph type="title"/>
          </p:nvPr>
        </p:nvSpPr>
        <p:spPr/>
        <p:txBody>
          <a:bodyPr/>
          <a:lstStyle/>
          <a:p>
            <a:r>
              <a:rPr lang="en-IN" dirty="0"/>
              <a:t>Method</a:t>
            </a:r>
          </a:p>
        </p:txBody>
      </p:sp>
      <p:sp>
        <p:nvSpPr>
          <p:cNvPr id="3" name="Content Placeholder 2">
            <a:extLst>
              <a:ext uri="{FF2B5EF4-FFF2-40B4-BE49-F238E27FC236}">
                <a16:creationId xmlns:a16="http://schemas.microsoft.com/office/drawing/2014/main" id="{9D9A0773-6D05-4B16-94F2-C291F007B6C8}"/>
              </a:ext>
            </a:extLst>
          </p:cNvPr>
          <p:cNvSpPr>
            <a:spLocks noGrp="1"/>
          </p:cNvSpPr>
          <p:nvPr>
            <p:ph idx="1"/>
          </p:nvPr>
        </p:nvSpPr>
        <p:spPr>
          <a:xfrm>
            <a:off x="579748" y="1344858"/>
            <a:ext cx="10515600" cy="4351338"/>
          </a:xfrm>
        </p:spPr>
        <p:txBody>
          <a:bodyPr/>
          <a:lstStyle/>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Using the dataset based on the Lok Sabha 2019 in India.</a:t>
            </a:r>
          </a:p>
          <a:p>
            <a:pPr marL="0" indent="0">
              <a:buNone/>
            </a:pPr>
            <a:endParaRPr lang="en-IN" dirty="0"/>
          </a:p>
        </p:txBody>
      </p:sp>
      <p:pic>
        <p:nvPicPr>
          <p:cNvPr id="4" name="Picture 3">
            <a:extLst>
              <a:ext uri="{FF2B5EF4-FFF2-40B4-BE49-F238E27FC236}">
                <a16:creationId xmlns:a16="http://schemas.microsoft.com/office/drawing/2014/main" id="{2CDAE7BD-A59B-4B77-B2A7-E8A32C1F5D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685" y="1760365"/>
            <a:ext cx="4910069" cy="2542134"/>
          </a:xfrm>
          <a:prstGeom prst="rect">
            <a:avLst/>
          </a:prstGeom>
          <a:noFill/>
          <a:ln>
            <a:noFill/>
          </a:ln>
        </p:spPr>
      </p:pic>
      <p:pic>
        <p:nvPicPr>
          <p:cNvPr id="5" name="Picture 4">
            <a:extLst>
              <a:ext uri="{FF2B5EF4-FFF2-40B4-BE49-F238E27FC236}">
                <a16:creationId xmlns:a16="http://schemas.microsoft.com/office/drawing/2014/main" id="{223C664D-9BC7-49D6-AD91-3AA22FC8E3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685" y="4327448"/>
            <a:ext cx="5167970" cy="2461260"/>
          </a:xfrm>
          <a:prstGeom prst="rect">
            <a:avLst/>
          </a:prstGeom>
          <a:noFill/>
          <a:ln>
            <a:noFill/>
          </a:ln>
        </p:spPr>
      </p:pic>
      <p:pic>
        <p:nvPicPr>
          <p:cNvPr id="6" name="Picture 5">
            <a:extLst>
              <a:ext uri="{FF2B5EF4-FFF2-40B4-BE49-F238E27FC236}">
                <a16:creationId xmlns:a16="http://schemas.microsoft.com/office/drawing/2014/main" id="{9C9515AA-FD04-4856-A345-DB25A6B9A18C}"/>
              </a:ext>
            </a:extLst>
          </p:cNvPr>
          <p:cNvPicPr>
            <a:picLocks noChangeAspect="1"/>
          </p:cNvPicPr>
          <p:nvPr/>
        </p:nvPicPr>
        <p:blipFill rotWithShape="1">
          <a:blip r:embed="rId4">
            <a:extLst>
              <a:ext uri="{28A0092B-C50C-407E-A947-70E740481C1C}">
                <a14:useLocalDpi xmlns:a14="http://schemas.microsoft.com/office/drawing/2010/main" val="0"/>
              </a:ext>
            </a:extLst>
          </a:blip>
          <a:srcRect r="53213"/>
          <a:stretch/>
        </p:blipFill>
        <p:spPr bwMode="auto">
          <a:xfrm>
            <a:off x="7023088" y="1690688"/>
            <a:ext cx="4072260" cy="5049833"/>
          </a:xfrm>
          <a:prstGeom prst="rect">
            <a:avLst/>
          </a:prstGeom>
          <a:noFill/>
          <a:ln>
            <a:noFill/>
          </a:ln>
        </p:spPr>
      </p:pic>
    </p:spTree>
    <p:extLst>
      <p:ext uri="{BB962C8B-B14F-4D97-AF65-F5344CB8AC3E}">
        <p14:creationId xmlns:p14="http://schemas.microsoft.com/office/powerpoint/2010/main" val="4225653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C2B1-D12F-459F-9FB0-55764106F468}"/>
              </a:ext>
            </a:extLst>
          </p:cNvPr>
          <p:cNvSpPr>
            <a:spLocks noGrp="1"/>
          </p:cNvSpPr>
          <p:nvPr>
            <p:ph type="title"/>
          </p:nvPr>
        </p:nvSpPr>
        <p:spPr/>
        <p:txBody>
          <a:bodyPr/>
          <a:lstStyle/>
          <a:p>
            <a:r>
              <a:rPr lang="en-IN" dirty="0"/>
              <a:t>Method</a:t>
            </a:r>
          </a:p>
        </p:txBody>
      </p:sp>
      <p:sp>
        <p:nvSpPr>
          <p:cNvPr id="3" name="Content Placeholder 2">
            <a:extLst>
              <a:ext uri="{FF2B5EF4-FFF2-40B4-BE49-F238E27FC236}">
                <a16:creationId xmlns:a16="http://schemas.microsoft.com/office/drawing/2014/main" id="{F5BC9D38-AA1C-4492-B68F-178A889A6518}"/>
              </a:ext>
            </a:extLst>
          </p:cNvPr>
          <p:cNvSpPr>
            <a:spLocks noGrp="1"/>
          </p:cNvSpPr>
          <p:nvPr>
            <p:ph idx="1"/>
          </p:nvPr>
        </p:nvSpPr>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The year is ranging from 1962 to 2019 and there are 45 states in India.</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As we can clearly see that Indian National Congress and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1800" dirty="0">
                <a:effectLst/>
                <a:latin typeface="Calibri" panose="020F0502020204030204" pitchFamily="34" charset="0"/>
                <a:ea typeface="Calibri" panose="020F0502020204030204" pitchFamily="34" charset="0"/>
                <a:cs typeface="Times New Roman" panose="02020603050405020304" pitchFamily="18" charset="0"/>
              </a:rPr>
              <a:t> Janata Party are most dominating parties from the history of India. So by considering these two parties and their past three election years we will perform our classification and prediction.</a:t>
            </a:r>
            <a:endParaRPr lang="en-IN" dirty="0"/>
          </a:p>
        </p:txBody>
      </p:sp>
    </p:spTree>
    <p:extLst>
      <p:ext uri="{BB962C8B-B14F-4D97-AF65-F5344CB8AC3E}">
        <p14:creationId xmlns:p14="http://schemas.microsoft.com/office/powerpoint/2010/main" val="2957607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A73E9-116A-424A-9738-1A5B31521196}"/>
              </a:ext>
            </a:extLst>
          </p:cNvPr>
          <p:cNvSpPr>
            <a:spLocks noGrp="1"/>
          </p:cNvSpPr>
          <p:nvPr>
            <p:ph type="title"/>
          </p:nvPr>
        </p:nvSpPr>
        <p:spPr>
          <a:xfrm>
            <a:off x="743932" y="148308"/>
            <a:ext cx="10515600" cy="1325563"/>
          </a:xfrm>
        </p:spPr>
        <p:txBody>
          <a:bodyPr/>
          <a:lstStyle/>
          <a:p>
            <a:r>
              <a:rPr lang="en-IN" dirty="0"/>
              <a:t>Method</a:t>
            </a:r>
          </a:p>
        </p:txBody>
      </p:sp>
      <p:pic>
        <p:nvPicPr>
          <p:cNvPr id="4" name="Content Placeholder 3">
            <a:extLst>
              <a:ext uri="{FF2B5EF4-FFF2-40B4-BE49-F238E27FC236}">
                <a16:creationId xmlns:a16="http://schemas.microsoft.com/office/drawing/2014/main" id="{A6EEEA1B-9D8A-445C-A60B-76E360A2EAC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1702" y="1166329"/>
            <a:ext cx="4412012" cy="3447984"/>
          </a:xfrm>
          <a:prstGeom prst="rect">
            <a:avLst/>
          </a:prstGeom>
          <a:noFill/>
          <a:ln>
            <a:noFill/>
          </a:ln>
        </p:spPr>
      </p:pic>
      <p:pic>
        <p:nvPicPr>
          <p:cNvPr id="5" name="Picture 4">
            <a:extLst>
              <a:ext uri="{FF2B5EF4-FFF2-40B4-BE49-F238E27FC236}">
                <a16:creationId xmlns:a16="http://schemas.microsoft.com/office/drawing/2014/main" id="{630FE6B8-2AEC-4C6C-B34E-6DF7F79103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2948" y="1262757"/>
            <a:ext cx="4567350" cy="3115759"/>
          </a:xfrm>
          <a:prstGeom prst="rect">
            <a:avLst/>
          </a:prstGeom>
          <a:noFill/>
          <a:ln>
            <a:noFill/>
          </a:ln>
        </p:spPr>
      </p:pic>
      <p:sp>
        <p:nvSpPr>
          <p:cNvPr id="7" name="TextBox 6">
            <a:extLst>
              <a:ext uri="{FF2B5EF4-FFF2-40B4-BE49-F238E27FC236}">
                <a16:creationId xmlns:a16="http://schemas.microsoft.com/office/drawing/2014/main" id="{FB590073-A9F0-45A4-A125-5F2F44073792}"/>
              </a:ext>
            </a:extLst>
          </p:cNvPr>
          <p:cNvSpPr txBox="1"/>
          <p:nvPr/>
        </p:nvSpPr>
        <p:spPr>
          <a:xfrm>
            <a:off x="1706252" y="4911365"/>
            <a:ext cx="9398523" cy="1759969"/>
          </a:xfrm>
          <a:prstGeom prst="rect">
            <a:avLst/>
          </a:prstGeom>
          <a:noFill/>
        </p:spPr>
        <p:txBody>
          <a:bodyPr wrap="square" rtlCol="0">
            <a:spAutoFit/>
          </a:bodyPr>
          <a:lstStyle/>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As the data are not in machine readable form we use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LabelEncoder</a:t>
            </a:r>
            <a:r>
              <a:rPr lang="en-IN" sz="1800" dirty="0">
                <a:effectLst/>
                <a:latin typeface="Calibri" panose="020F0502020204030204" pitchFamily="34" charset="0"/>
                <a:ea typeface="Calibri" panose="020F0502020204030204" pitchFamily="34" charset="0"/>
                <a:cs typeface="Times New Roman" panose="02020603050405020304" pitchFamily="18" charset="0"/>
              </a:rPr>
              <a:t> to convert the values into Integers so that our machine can understand.</a:t>
            </a:r>
          </a:p>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Where in party variable “0” represents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1800" dirty="0">
                <a:effectLst/>
                <a:latin typeface="Calibri" panose="020F0502020204030204" pitchFamily="34" charset="0"/>
                <a:ea typeface="Calibri" panose="020F0502020204030204" pitchFamily="34" charset="0"/>
                <a:cs typeface="Times New Roman" panose="02020603050405020304" pitchFamily="18" charset="0"/>
              </a:rPr>
              <a:t> Janata party and “1” represents Indian National Congress.</a:t>
            </a:r>
          </a:p>
          <a:p>
            <a:endParaRPr lang="en-IN" dirty="0"/>
          </a:p>
        </p:txBody>
      </p:sp>
    </p:spTree>
    <p:extLst>
      <p:ext uri="{BB962C8B-B14F-4D97-AF65-F5344CB8AC3E}">
        <p14:creationId xmlns:p14="http://schemas.microsoft.com/office/powerpoint/2010/main" val="299578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46E8-8808-4E2E-91D1-AF1654870F38}"/>
              </a:ext>
            </a:extLst>
          </p:cNvPr>
          <p:cNvSpPr>
            <a:spLocks noGrp="1"/>
          </p:cNvSpPr>
          <p:nvPr>
            <p:ph type="title"/>
          </p:nvPr>
        </p:nvSpPr>
        <p:spPr>
          <a:xfrm>
            <a:off x="740924" y="0"/>
            <a:ext cx="10515600" cy="1325563"/>
          </a:xfrm>
        </p:spPr>
        <p:txBody>
          <a:bodyPr/>
          <a:lstStyle/>
          <a:p>
            <a:r>
              <a:rPr lang="en-IN" dirty="0"/>
              <a:t>Method</a:t>
            </a:r>
          </a:p>
        </p:txBody>
      </p:sp>
      <p:sp>
        <p:nvSpPr>
          <p:cNvPr id="3" name="Content Placeholder 2">
            <a:extLst>
              <a:ext uri="{FF2B5EF4-FFF2-40B4-BE49-F238E27FC236}">
                <a16:creationId xmlns:a16="http://schemas.microsoft.com/office/drawing/2014/main" id="{8A6D6CB5-DB7B-4B70-B8C4-77F019D46861}"/>
              </a:ext>
            </a:extLst>
          </p:cNvPr>
          <p:cNvSpPr>
            <a:spLocks noGrp="1"/>
          </p:cNvSpPr>
          <p:nvPr>
            <p:ph idx="1"/>
          </p:nvPr>
        </p:nvSpPr>
        <p:spPr>
          <a:xfrm>
            <a:off x="838200" y="4790921"/>
            <a:ext cx="9795235" cy="865661"/>
          </a:xfrm>
        </p:spPr>
        <p:txBody>
          <a:bodyPr>
            <a:noAutofit/>
          </a:bodyPr>
          <a:lstStyle/>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two variables x and y where in “x” has the dependent variables and “y” has the independent variable.</a:t>
            </a:r>
          </a:p>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spilt the data into train case and test case taking the train size = 0.8 and test size =0.2. </a:t>
            </a:r>
          </a:p>
          <a:p>
            <a:pPr indent="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And to standardize the range functionality of input dataset we use Standard Scalar.</a:t>
            </a:r>
          </a:p>
        </p:txBody>
      </p:sp>
      <p:pic>
        <p:nvPicPr>
          <p:cNvPr id="4" name="Picture 3">
            <a:extLst>
              <a:ext uri="{FF2B5EF4-FFF2-40B4-BE49-F238E27FC236}">
                <a16:creationId xmlns:a16="http://schemas.microsoft.com/office/drawing/2014/main" id="{5FC17D3A-A680-4CE9-A9B2-0A3B536F80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2816" y="1201418"/>
            <a:ext cx="4638472" cy="3124503"/>
          </a:xfrm>
          <a:prstGeom prst="rect">
            <a:avLst/>
          </a:prstGeom>
          <a:noFill/>
          <a:ln>
            <a:noFill/>
          </a:ln>
        </p:spPr>
      </p:pic>
      <p:pic>
        <p:nvPicPr>
          <p:cNvPr id="5" name="Picture 4">
            <a:extLst>
              <a:ext uri="{FF2B5EF4-FFF2-40B4-BE49-F238E27FC236}">
                <a16:creationId xmlns:a16="http://schemas.microsoft.com/office/drawing/2014/main" id="{63CDD711-9607-4375-B4DA-F1EA385E5A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79396" y="900146"/>
            <a:ext cx="6079788" cy="3788585"/>
          </a:xfrm>
          <a:prstGeom prst="rect">
            <a:avLst/>
          </a:prstGeom>
          <a:noFill/>
          <a:ln>
            <a:noFill/>
          </a:ln>
        </p:spPr>
      </p:pic>
    </p:spTree>
    <p:extLst>
      <p:ext uri="{BB962C8B-B14F-4D97-AF65-F5344CB8AC3E}">
        <p14:creationId xmlns:p14="http://schemas.microsoft.com/office/powerpoint/2010/main" val="26865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36AF-1D32-49C1-A362-D07D72C1CA6C}"/>
              </a:ext>
            </a:extLst>
          </p:cNvPr>
          <p:cNvSpPr>
            <a:spLocks noGrp="1"/>
          </p:cNvSpPr>
          <p:nvPr>
            <p:ph type="title"/>
          </p:nvPr>
        </p:nvSpPr>
        <p:spPr/>
        <p:txBody>
          <a:bodyPr/>
          <a:lstStyle/>
          <a:p>
            <a:r>
              <a:rPr lang="en-IN" dirty="0"/>
              <a:t>Method</a:t>
            </a:r>
          </a:p>
        </p:txBody>
      </p:sp>
      <p:sp>
        <p:nvSpPr>
          <p:cNvPr id="3" name="Content Placeholder 2">
            <a:extLst>
              <a:ext uri="{FF2B5EF4-FFF2-40B4-BE49-F238E27FC236}">
                <a16:creationId xmlns:a16="http://schemas.microsoft.com/office/drawing/2014/main" id="{B703E5BF-9EAA-403E-A51C-55CBF5F267B0}"/>
              </a:ext>
            </a:extLst>
          </p:cNvPr>
          <p:cNvSpPr>
            <a:spLocks noGrp="1"/>
          </p:cNvSpPr>
          <p:nvPr>
            <p:ph idx="1"/>
          </p:nvPr>
        </p:nvSpPr>
        <p:spPr>
          <a:xfrm>
            <a:off x="604494" y="4715789"/>
            <a:ext cx="10983012" cy="1748609"/>
          </a:xfrm>
        </p:spPr>
        <p:txBody>
          <a:bodyPr>
            <a:normAutofit fontScale="85000" lnSpcReduction="20000"/>
          </a:bodyPr>
          <a:lstStyle/>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SVM model is selected for the final prediction. The script elaborates on the metrics obtained when SVM model is used on test data. It shows the entire classification report and a confusion matrix. </a:t>
            </a:r>
          </a:p>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We can observe that the accuracy of the model on test data is 79% with 127 “0”(BJP) observations predicted correctly out of 140 and 30 “1”(INC) observations predicted correctly out 60.</a:t>
            </a:r>
          </a:p>
          <a:p>
            <a:pPr marL="2286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above forecast table shows the actual value and predicted value by the model</a:t>
            </a:r>
          </a:p>
          <a:p>
            <a:endParaRPr lang="en-IN" dirty="0"/>
          </a:p>
        </p:txBody>
      </p:sp>
      <p:pic>
        <p:nvPicPr>
          <p:cNvPr id="4" name="Picture 3">
            <a:extLst>
              <a:ext uri="{FF2B5EF4-FFF2-40B4-BE49-F238E27FC236}">
                <a16:creationId xmlns:a16="http://schemas.microsoft.com/office/drawing/2014/main" id="{8C1FDE3B-B0E7-4D50-9E83-C22EC94982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805" y="1267906"/>
            <a:ext cx="5532615" cy="3271163"/>
          </a:xfrm>
          <a:prstGeom prst="rect">
            <a:avLst/>
          </a:prstGeom>
          <a:noFill/>
          <a:ln>
            <a:noFill/>
          </a:ln>
        </p:spPr>
      </p:pic>
      <p:pic>
        <p:nvPicPr>
          <p:cNvPr id="5" name="Picture 4">
            <a:extLst>
              <a:ext uri="{FF2B5EF4-FFF2-40B4-BE49-F238E27FC236}">
                <a16:creationId xmlns:a16="http://schemas.microsoft.com/office/drawing/2014/main" id="{CFE64B12-E033-4A41-A990-BBF353D3A4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21420" y="1267906"/>
            <a:ext cx="4486858" cy="3088822"/>
          </a:xfrm>
          <a:prstGeom prst="rect">
            <a:avLst/>
          </a:prstGeom>
          <a:noFill/>
          <a:ln>
            <a:noFill/>
          </a:ln>
        </p:spPr>
      </p:pic>
    </p:spTree>
    <p:extLst>
      <p:ext uri="{BB962C8B-B14F-4D97-AF65-F5344CB8AC3E}">
        <p14:creationId xmlns:p14="http://schemas.microsoft.com/office/powerpoint/2010/main" val="1356799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0313-3451-44FC-88EB-843BCF0A2686}"/>
              </a:ext>
            </a:extLst>
          </p:cNvPr>
          <p:cNvSpPr>
            <a:spLocks noGrp="1"/>
          </p:cNvSpPr>
          <p:nvPr>
            <p:ph type="title"/>
          </p:nvPr>
        </p:nvSpPr>
        <p:spPr>
          <a:xfrm>
            <a:off x="508262" y="138254"/>
            <a:ext cx="10515600" cy="1325563"/>
          </a:xfrm>
        </p:spPr>
        <p:txBody>
          <a:bodyPr/>
          <a:lstStyle/>
          <a:p>
            <a:r>
              <a:rPr lang="en-IN" dirty="0"/>
              <a:t>Results</a:t>
            </a:r>
          </a:p>
        </p:txBody>
      </p:sp>
      <p:pic>
        <p:nvPicPr>
          <p:cNvPr id="4" name="Picture 3">
            <a:extLst>
              <a:ext uri="{FF2B5EF4-FFF2-40B4-BE49-F238E27FC236}">
                <a16:creationId xmlns:a16="http://schemas.microsoft.com/office/drawing/2014/main" id="{9B6603FA-348D-417F-96BA-5A10D9B1E3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5795" y="1130050"/>
            <a:ext cx="7832380" cy="2224591"/>
          </a:xfrm>
          <a:prstGeom prst="rect">
            <a:avLst/>
          </a:prstGeom>
          <a:noFill/>
          <a:ln>
            <a:noFill/>
          </a:ln>
        </p:spPr>
      </p:pic>
      <p:pic>
        <p:nvPicPr>
          <p:cNvPr id="5" name="Picture 4">
            <a:extLst>
              <a:ext uri="{FF2B5EF4-FFF2-40B4-BE49-F238E27FC236}">
                <a16:creationId xmlns:a16="http://schemas.microsoft.com/office/drawing/2014/main" id="{55BCBEAF-7113-4779-A6DF-E66937915A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6358" y="3560974"/>
            <a:ext cx="5709453" cy="2491033"/>
          </a:xfrm>
          <a:prstGeom prst="rect">
            <a:avLst/>
          </a:prstGeom>
          <a:noFill/>
          <a:ln>
            <a:noFill/>
          </a:ln>
        </p:spPr>
      </p:pic>
      <p:pic>
        <p:nvPicPr>
          <p:cNvPr id="6" name="Picture 5">
            <a:extLst>
              <a:ext uri="{FF2B5EF4-FFF2-40B4-BE49-F238E27FC236}">
                <a16:creationId xmlns:a16="http://schemas.microsoft.com/office/drawing/2014/main" id="{26058EA7-3FA8-44BA-8095-3F5E159CC2E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20312" y="3560974"/>
            <a:ext cx="5018987" cy="2800382"/>
          </a:xfrm>
          <a:prstGeom prst="rect">
            <a:avLst/>
          </a:prstGeom>
          <a:noFill/>
          <a:ln>
            <a:noFill/>
          </a:ln>
        </p:spPr>
      </p:pic>
    </p:spTree>
    <p:extLst>
      <p:ext uri="{BB962C8B-B14F-4D97-AF65-F5344CB8AC3E}">
        <p14:creationId xmlns:p14="http://schemas.microsoft.com/office/powerpoint/2010/main" val="761501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8C70-34BE-4F4B-86DF-BD5BE8B1FF70}"/>
              </a:ext>
            </a:extLst>
          </p:cNvPr>
          <p:cNvSpPr>
            <a:spLocks noGrp="1"/>
          </p:cNvSpPr>
          <p:nvPr>
            <p:ph type="title"/>
          </p:nvPr>
        </p:nvSpPr>
        <p:spPr/>
        <p:txBody>
          <a:bodyPr/>
          <a:lstStyle/>
          <a:p>
            <a:r>
              <a:rPr lang="en-IN" dirty="0"/>
              <a:t>Results</a:t>
            </a:r>
          </a:p>
        </p:txBody>
      </p:sp>
      <p:pic>
        <p:nvPicPr>
          <p:cNvPr id="4" name="Content Placeholder 3">
            <a:extLst>
              <a:ext uri="{FF2B5EF4-FFF2-40B4-BE49-F238E27FC236}">
                <a16:creationId xmlns:a16="http://schemas.microsoft.com/office/drawing/2014/main" id="{8EF9673D-6A3F-4100-BEF3-E40D1100BB3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3684" y="1199474"/>
            <a:ext cx="5404592" cy="3448734"/>
          </a:xfrm>
          <a:prstGeom prst="rect">
            <a:avLst/>
          </a:prstGeom>
          <a:noFill/>
          <a:ln>
            <a:noFill/>
          </a:ln>
        </p:spPr>
      </p:pic>
      <p:sp>
        <p:nvSpPr>
          <p:cNvPr id="5" name="TextBox 4">
            <a:extLst>
              <a:ext uri="{FF2B5EF4-FFF2-40B4-BE49-F238E27FC236}">
                <a16:creationId xmlns:a16="http://schemas.microsoft.com/office/drawing/2014/main" id="{AF3886D5-DA48-4AB1-885E-7804C1A95F23}"/>
              </a:ext>
            </a:extLst>
          </p:cNvPr>
          <p:cNvSpPr txBox="1"/>
          <p:nvPr/>
        </p:nvSpPr>
        <p:spPr>
          <a:xfrm>
            <a:off x="960748" y="4648208"/>
            <a:ext cx="9936637" cy="1477328"/>
          </a:xfrm>
          <a:prstGeom prst="rect">
            <a:avLst/>
          </a:prstGeom>
          <a:noFill/>
        </p:spPr>
        <p:txBody>
          <a:bodyPr wrap="square" rtlCol="0">
            <a:spAutoFit/>
          </a:bodyPr>
          <a:lstStyle/>
          <a:p>
            <a:pPr marL="285750" indent="-285750">
              <a:buFontTx/>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So now to predict main output that which party is going win 2024 election. By taking the average of data of constituencies in previous three elections and SVM model for prediction we get the results</a:t>
            </a:r>
          </a:p>
          <a:p>
            <a:pPr marL="285750" indent="-285750">
              <a:buFontTx/>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Calibri" panose="020F0502020204030204" pitchFamily="34" charset="0"/>
                <a:ea typeface="Calibri" panose="020F0502020204030204" pitchFamily="34" charset="0"/>
                <a:cs typeface="Times New Roman" panose="02020603050405020304" pitchFamily="18" charset="0"/>
              </a:rPr>
              <a:t>We have made prediction where the results of our prediction are “0”(BJP) = 395 and “1”(INC) = 70. We can say by this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1800" dirty="0">
                <a:effectLst/>
                <a:latin typeface="Calibri" panose="020F0502020204030204" pitchFamily="34" charset="0"/>
                <a:ea typeface="Calibri" panose="020F0502020204030204" pitchFamily="34" charset="0"/>
                <a:cs typeface="Times New Roman" panose="02020603050405020304" pitchFamily="18" charset="0"/>
              </a:rPr>
              <a:t> Janata party has more chances of winning in 2024.</a:t>
            </a:r>
            <a:endParaRPr lang="en-IN" dirty="0"/>
          </a:p>
        </p:txBody>
      </p:sp>
    </p:spTree>
    <p:extLst>
      <p:ext uri="{BB962C8B-B14F-4D97-AF65-F5344CB8AC3E}">
        <p14:creationId xmlns:p14="http://schemas.microsoft.com/office/powerpoint/2010/main" val="4114624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A19D-C26B-4583-91B3-9733704B54A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61DBBF5-EDF6-4239-93A3-319502D5B5B2}"/>
              </a:ext>
            </a:extLst>
          </p:cNvPr>
          <p:cNvSpPr>
            <a:spLocks noGrp="1"/>
          </p:cNvSpPr>
          <p:nvPr>
            <p:ph idx="1"/>
          </p:nvPr>
        </p:nvSpPr>
        <p:spPr>
          <a:xfrm>
            <a:off x="838200" y="1825625"/>
            <a:ext cx="10276002" cy="1603376"/>
          </a:xfrm>
        </p:spPr>
        <p:txBody>
          <a:bodyPr/>
          <a:lstStyle/>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Using this prediction model we have predicted that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Bharatiya</a:t>
            </a:r>
            <a:r>
              <a:rPr lang="en-IN" sz="1800" dirty="0">
                <a:effectLst/>
                <a:latin typeface="Calibri" panose="020F0502020204030204" pitchFamily="34" charset="0"/>
                <a:ea typeface="Calibri" panose="020F0502020204030204" pitchFamily="34" charset="0"/>
                <a:cs typeface="Times New Roman" panose="02020603050405020304" pitchFamily="18" charset="0"/>
              </a:rPr>
              <a:t> Janata Party has a high probability of winning the next election 2024. Where Indian National Congress has a low probability of winning the election 2024.</a:t>
            </a:r>
          </a:p>
          <a:p>
            <a:endParaRPr lang="en-IN" dirty="0"/>
          </a:p>
        </p:txBody>
      </p:sp>
    </p:spTree>
    <p:extLst>
      <p:ext uri="{BB962C8B-B14F-4D97-AF65-F5344CB8AC3E}">
        <p14:creationId xmlns:p14="http://schemas.microsoft.com/office/powerpoint/2010/main" val="1702259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TotalTime>
  <Words>634</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Indian Election Prediction</vt:lpstr>
      <vt:lpstr>Introduction</vt:lpstr>
      <vt:lpstr>Back Ground</vt:lpstr>
      <vt:lpstr>Method</vt:lpstr>
      <vt:lpstr>Method</vt:lpstr>
      <vt:lpstr>Method</vt:lpstr>
      <vt:lpstr>Method</vt:lpstr>
      <vt:lpstr>Method</vt:lpstr>
      <vt:lpstr>Results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Election Prediction</dc:title>
  <dc:creator>sathvik tal</dc:creator>
  <cp:lastModifiedBy>sathvik tal</cp:lastModifiedBy>
  <cp:revision>2</cp:revision>
  <dcterms:created xsi:type="dcterms:W3CDTF">2022-04-27T03:01:05Z</dcterms:created>
  <dcterms:modified xsi:type="dcterms:W3CDTF">2022-04-27T17:43:06Z</dcterms:modified>
</cp:coreProperties>
</file>